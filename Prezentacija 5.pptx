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60" r:id="rId7"/>
    <p:sldId id="261" r:id="rId8"/>
    <p:sldId id="28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6" r:id="rId20"/>
    <p:sldId id="272" r:id="rId21"/>
    <p:sldId id="273" r:id="rId22"/>
    <p:sldId id="287" r:id="rId23"/>
    <p:sldId id="274" r:id="rId24"/>
    <p:sldId id="288" r:id="rId25"/>
    <p:sldId id="275" r:id="rId26"/>
    <p:sldId id="289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84FAFA-F322-5228-981F-DB03D497C62D}" v="454" dt="2026-01-01T12:38:29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1.1.2026.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kanba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r-HR" dirty="0" err="1"/>
              <a:t>Kanban</a:t>
            </a:r>
            <a:r>
              <a:rPr lang="hr-HR" dirty="0"/>
              <a:t> i softverska rješenja za upravljanje projektima</a:t>
            </a:r>
            <a:br>
              <a:rPr lang="en-US" dirty="0"/>
            </a:b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r-HR" dirty="0"/>
              <a:t>Autor: Antonio </a:t>
            </a:r>
            <a:r>
              <a:rPr lang="hr-HR" dirty="0" err="1"/>
              <a:t>Labinjan</a:t>
            </a:r>
            <a:endParaRPr lang="hr-HR" dirty="0"/>
          </a:p>
          <a:p>
            <a:r>
              <a:rPr lang="hr-HR" dirty="0"/>
              <a:t>Kolegij: Upravljanje projektima</a:t>
            </a:r>
          </a:p>
          <a:p>
            <a:r>
              <a:rPr lang="hr-HR" dirty="0"/>
              <a:t> Godina: 2026</a:t>
            </a:r>
          </a:p>
          <a:p>
            <a:r>
              <a:rPr lang="hr-HR" dirty="0"/>
              <a:t>Ustanova: Fakultet Informatike u Puli</a:t>
            </a:r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39A2279-33E7-7DC0-F57A-A5CF4DA5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22F6E18-919C-BEA8-5628-5F083F50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Učinkovito upravljanje procesima ključno je za konkurentnost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Posebno je važno u razvoju softvera i proizvodnji</a:t>
            </a:r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je jedna od popularnih metodologija upravljanja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Omogućuje visoku razinu agilnosti i transparentnosti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Naziv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potječe iz japanskog jezika</a:t>
            </a:r>
            <a:endParaRPr lang="hr-HR" dirty="0"/>
          </a:p>
          <a:p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metoda omogućuje organizaciju rada kroz vizualni prikaz zadataka, čime se postiže bolja preglednost i učinkovitije upravljanje procesima.</a:t>
            </a:r>
          </a:p>
        </p:txBody>
      </p:sp>
    </p:spTree>
    <p:extLst>
      <p:ext uri="{BB962C8B-B14F-4D97-AF65-F5344CB8AC3E}">
        <p14:creationId xmlns:p14="http://schemas.microsoft.com/office/powerpoint/2010/main" val="160615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97335BC-9C45-F89D-CF21-A82E85955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Definicija </a:t>
            </a:r>
            <a:r>
              <a:rPr lang="hr-HR" dirty="0" err="1"/>
              <a:t>Kanbana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9DAA885-916E-1CFF-36FB-F4E17856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nije strogo definiran okvir s krutim pravilima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Predstavlja sustav za vizualizaciju rada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Pomaže timovima u upravljanju radnim procesima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Omogućuje usklađivanje zahtjeva kupaca i kapaciteta tima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Fokusiran je na kontinuirano poboljšanje procesa</a:t>
            </a:r>
            <a:endParaRPr lang="hr-HR" dirty="0"/>
          </a:p>
          <a:p>
            <a:endParaRPr lang="hr-HR" dirty="0"/>
          </a:p>
          <a:p>
            <a:r>
              <a:rPr lang="hr-HR" dirty="0">
                <a:ea typeface="+mn-lt"/>
                <a:cs typeface="+mn-lt"/>
              </a:rPr>
              <a:t>Glavni cilj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metode je smanjenje zagušenja u procesu rada te povećanje protoka vrijednosti prema krajnjem korisniku.</a:t>
            </a:r>
          </a:p>
        </p:txBody>
      </p:sp>
    </p:spTree>
    <p:extLst>
      <p:ext uri="{BB962C8B-B14F-4D97-AF65-F5344CB8AC3E}">
        <p14:creationId xmlns:p14="http://schemas.microsoft.com/office/powerpoint/2010/main" val="396117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4ECD723-1F6D-E878-24A8-2E484022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Kanban</a:t>
            </a:r>
            <a:r>
              <a:rPr lang="hr-HR" dirty="0"/>
              <a:t> ploča</a:t>
            </a:r>
            <a:endParaRPr lang="hr-HR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B7301CB-17F0-B210-4FA7-46B59D3B3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Svaka kartica predstavlja jedan radni nalog</a:t>
            </a:r>
          </a:p>
          <a:p>
            <a:r>
              <a:rPr lang="hr-HR" dirty="0">
                <a:ea typeface="+mn-lt"/>
                <a:cs typeface="+mn-lt"/>
              </a:rPr>
              <a:t>Stupci predstavljaju faze procesa</a:t>
            </a:r>
          </a:p>
          <a:p>
            <a:r>
              <a:rPr lang="hr-HR" dirty="0">
                <a:ea typeface="+mn-lt"/>
                <a:cs typeface="+mn-lt"/>
              </a:rPr>
              <a:t>Zadaci se pomiču kroz faze rada</a:t>
            </a:r>
          </a:p>
          <a:p>
            <a:r>
              <a:rPr lang="hr-HR" dirty="0">
                <a:ea typeface="+mn-lt"/>
                <a:cs typeface="+mn-lt"/>
              </a:rPr>
              <a:t>Omogućuje praćenje napretka zadataka</a:t>
            </a:r>
          </a:p>
          <a:p>
            <a:endParaRPr lang="hr-HR" dirty="0"/>
          </a:p>
          <a:p>
            <a:r>
              <a:rPr lang="hr-HR" dirty="0"/>
              <a:t>Vizualni prikaz radnih zadataka</a:t>
            </a:r>
          </a:p>
        </p:txBody>
      </p:sp>
    </p:spTree>
    <p:extLst>
      <p:ext uri="{BB962C8B-B14F-4D97-AF65-F5344CB8AC3E}">
        <p14:creationId xmlns:p14="http://schemas.microsoft.com/office/powerpoint/2010/main" val="111900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3E83221-82BA-7F09-28C3-A38834F1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odijevanje, čovjek, osoba&#10;&#10;Sadržaj generiran uz AI možda nije točan.">
            <a:extLst>
              <a:ext uri="{FF2B5EF4-FFF2-40B4-BE49-F238E27FC236}">
                <a16:creationId xmlns:a16="http://schemas.microsoft.com/office/drawing/2014/main" id="{E6A48454-D3BC-48CE-228A-248541028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295" y="315510"/>
            <a:ext cx="8905409" cy="62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98DB738-BCB5-9450-992A-935016E2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Povijesni razvoj </a:t>
            </a:r>
            <a:r>
              <a:rPr lang="hr-HR" dirty="0" err="1"/>
              <a:t>Kanbana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DB4DD79-6520-1F1E-888D-216C146E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Korijeni </a:t>
            </a:r>
            <a:r>
              <a:rPr lang="hr-HR" dirty="0" err="1">
                <a:ea typeface="+mn-lt"/>
                <a:cs typeface="+mn-lt"/>
              </a:rPr>
              <a:t>Kanbana</a:t>
            </a:r>
            <a:r>
              <a:rPr lang="hr-HR" dirty="0">
                <a:ea typeface="+mn-lt"/>
                <a:cs typeface="+mn-lt"/>
              </a:rPr>
              <a:t> sežu u Japan krajem 1940-ih godina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Razvio ga je </a:t>
            </a:r>
            <a:r>
              <a:rPr lang="hr-HR" dirty="0" err="1">
                <a:ea typeface="+mn-lt"/>
                <a:cs typeface="+mn-lt"/>
              </a:rPr>
              <a:t>Taiichi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Ohno</a:t>
            </a:r>
            <a:r>
              <a:rPr lang="hr-HR" dirty="0">
                <a:ea typeface="+mn-lt"/>
                <a:cs typeface="+mn-lt"/>
              </a:rPr>
              <a:t> u tvrtki Toyota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Inspiracija dolazi iz američkih supermarketa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Temelj </a:t>
            </a:r>
            <a:r>
              <a:rPr lang="hr-HR" dirty="0" err="1">
                <a:ea typeface="+mn-lt"/>
                <a:cs typeface="+mn-lt"/>
              </a:rPr>
              <a:t>Kanbana</a:t>
            </a:r>
            <a:r>
              <a:rPr lang="hr-HR" dirty="0">
                <a:ea typeface="+mn-lt"/>
                <a:cs typeface="+mn-lt"/>
              </a:rPr>
              <a:t> je </a:t>
            </a:r>
            <a:r>
              <a:rPr lang="hr-HR" dirty="0" err="1">
                <a:ea typeface="+mn-lt"/>
                <a:cs typeface="+mn-lt"/>
              </a:rPr>
              <a:t>Just</a:t>
            </a:r>
            <a:r>
              <a:rPr lang="hr-HR" dirty="0">
                <a:ea typeface="+mn-lt"/>
                <a:cs typeface="+mn-lt"/>
              </a:rPr>
              <a:t>-</a:t>
            </a:r>
            <a:r>
              <a:rPr lang="hr-HR" dirty="0" err="1">
                <a:ea typeface="+mn-lt"/>
                <a:cs typeface="+mn-lt"/>
              </a:rPr>
              <a:t>in</a:t>
            </a:r>
            <a:r>
              <a:rPr lang="hr-HR" dirty="0">
                <a:ea typeface="+mn-lt"/>
                <a:cs typeface="+mn-lt"/>
              </a:rPr>
              <a:t>-Time (JIT) proizvodnja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Cilj je bio usklađivanje proizvodnje s potražnjom</a:t>
            </a:r>
            <a:endParaRPr lang="hr-HR"/>
          </a:p>
          <a:p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je prvotno razvijen u proizvodnom okruženju kako bi se smanjio otpad i povećala učinkovitost.</a:t>
            </a:r>
          </a:p>
        </p:txBody>
      </p:sp>
    </p:spTree>
    <p:extLst>
      <p:ext uri="{BB962C8B-B14F-4D97-AF65-F5344CB8AC3E}">
        <p14:creationId xmlns:p14="http://schemas.microsoft.com/office/powerpoint/2010/main" val="186317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69C2FA-E523-CCBD-EF9F-625031C3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Kanban</a:t>
            </a:r>
            <a:r>
              <a:rPr lang="hr-HR" dirty="0"/>
              <a:t> i Toyota </a:t>
            </a:r>
            <a:r>
              <a:rPr lang="hr-HR" dirty="0" err="1"/>
              <a:t>Production</a:t>
            </a:r>
            <a:r>
              <a:rPr lang="hr-HR" dirty="0"/>
              <a:t> System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D9C9515-7674-99A3-97C5-FC284D2D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Uvođenje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kartica za kontrolu zaliha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Proizvodnja se pokreće stvarnom potrošnjom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Smanjenje viška zaliha i nepotrebnih procesa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Fokus na eliminaciju otpada (muda)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Povećanje učinkovitosti proizvodnog sustava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6707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ED9946B-FDB1-8425-1A2F-2C31CB01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krug, snimka zaslona, Font&#10;&#10;Sadržaj generiran uz AI možda nije točan.">
            <a:extLst>
              <a:ext uri="{FF2B5EF4-FFF2-40B4-BE49-F238E27FC236}">
                <a16:creationId xmlns:a16="http://schemas.microsoft.com/office/drawing/2014/main" id="{F9546946-7FC5-9E64-62D4-B8A6C56B1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351" y="378141"/>
            <a:ext cx="6165736" cy="61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3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A69010-C18D-C7F2-F9DB-71051C3E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Vrste otpada u </a:t>
            </a:r>
            <a:r>
              <a:rPr lang="hr-HR" dirty="0" err="1"/>
              <a:t>Kanban</a:t>
            </a:r>
            <a:r>
              <a:rPr lang="hr-HR" dirty="0"/>
              <a:t> sustavu (DOWNTIME)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17DCD5B-E661-019E-82E1-9D6CDC430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r-HR" dirty="0">
                <a:ea typeface="+mn-lt"/>
                <a:cs typeface="+mn-lt"/>
              </a:rPr>
              <a:t>Defekti (</a:t>
            </a:r>
            <a:r>
              <a:rPr lang="hr-HR" dirty="0" err="1">
                <a:ea typeface="+mn-lt"/>
                <a:cs typeface="+mn-lt"/>
              </a:rPr>
              <a:t>Defects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Prekomjerna proizvodnja (</a:t>
            </a:r>
            <a:r>
              <a:rPr lang="hr-HR" dirty="0" err="1">
                <a:ea typeface="+mn-lt"/>
                <a:cs typeface="+mn-lt"/>
              </a:rPr>
              <a:t>Overproduction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Čekanje (Waiting)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Neiskorišteni talent (</a:t>
            </a:r>
            <a:r>
              <a:rPr lang="hr-HR" dirty="0" err="1">
                <a:ea typeface="+mn-lt"/>
                <a:cs typeface="+mn-lt"/>
              </a:rPr>
              <a:t>Non-utilized</a:t>
            </a:r>
            <a:r>
              <a:rPr lang="hr-HR" dirty="0">
                <a:ea typeface="+mn-lt"/>
                <a:cs typeface="+mn-lt"/>
              </a:rPr>
              <a:t> Talent)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Transport (</a:t>
            </a:r>
            <a:r>
              <a:rPr lang="hr-HR" dirty="0" err="1">
                <a:ea typeface="+mn-lt"/>
                <a:cs typeface="+mn-lt"/>
              </a:rPr>
              <a:t>Transportation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Zalihe (</a:t>
            </a:r>
            <a:r>
              <a:rPr lang="hr-HR" dirty="0" err="1">
                <a:ea typeface="+mn-lt"/>
                <a:cs typeface="+mn-lt"/>
              </a:rPr>
              <a:t>Inventory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Kretanje (</a:t>
            </a:r>
            <a:r>
              <a:rPr lang="hr-HR" dirty="0" err="1">
                <a:ea typeface="+mn-lt"/>
                <a:cs typeface="+mn-lt"/>
              </a:rPr>
              <a:t>Motion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Prekomjerna obrada (Extra-processing)</a:t>
            </a:r>
            <a:endParaRPr lang="hr-HR" dirty="0"/>
          </a:p>
          <a:p>
            <a:endParaRPr lang="hr-HR" dirty="0"/>
          </a:p>
          <a:p>
            <a:r>
              <a:rPr lang="hr-HR"/>
              <a:t>Ne dodaju vrijednost krajnjem korisniku i cilj je njihovo smanjenje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43649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335E50-48A7-78A2-8CDA-832AC6D1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Primjena </a:t>
            </a:r>
            <a:r>
              <a:rPr lang="hr-HR" dirty="0" err="1"/>
              <a:t>Kanbana</a:t>
            </a:r>
            <a:r>
              <a:rPr lang="hr-HR" dirty="0"/>
              <a:t> u IT industriji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AD4946B-CA22-BA32-1334-7C71215D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Početak primjene u IT sektoru početkom 2000-ih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Popularizacija kroz rad Davida J. Andersona</a:t>
            </a:r>
          </a:p>
          <a:p>
            <a:r>
              <a:rPr lang="hr-HR" dirty="0">
                <a:ea typeface="+mn-lt"/>
                <a:cs typeface="+mn-lt"/>
              </a:rPr>
              <a:t>Prilagodba </a:t>
            </a:r>
            <a:r>
              <a:rPr lang="hr-HR" dirty="0" err="1">
                <a:ea typeface="+mn-lt"/>
                <a:cs typeface="+mn-lt"/>
              </a:rPr>
              <a:t>Kanbana</a:t>
            </a:r>
            <a:r>
              <a:rPr lang="hr-HR" dirty="0">
                <a:ea typeface="+mn-lt"/>
                <a:cs typeface="+mn-lt"/>
              </a:rPr>
              <a:t> razvoju softvera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Vizualizacija inače nevidljivog rada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Lakše prepoznavanje uskih grla u procesima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3661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508C3A5-D508-D6BB-B6B3-80784AFD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Digresija: </a:t>
            </a:r>
            <a:r>
              <a:rPr lang="hr-HR" dirty="0" err="1"/>
              <a:t>Just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time (JIT) proizvodnja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F5DE751-0768-AA40-F7D6-24E066ED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 dirty="0">
                <a:ea typeface="+mn-lt"/>
                <a:cs typeface="+mn-lt"/>
              </a:rPr>
              <a:t>Koncept proizvodnje prema stvarnoj potražnji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Proizvodnja se odvija samo kada je potrebna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Smanjenje viška zaliha i troškova skladištenja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Povećanje učinkovitosti proizvodnog procesa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Usko povezan s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metodom</a:t>
            </a:r>
            <a:endParaRPr lang="hr-HR" dirty="0"/>
          </a:p>
          <a:p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Just</a:t>
            </a:r>
            <a:r>
              <a:rPr lang="hr-HR" dirty="0">
                <a:ea typeface="+mn-lt"/>
                <a:cs typeface="+mn-lt"/>
              </a:rPr>
              <a:t>-</a:t>
            </a:r>
            <a:r>
              <a:rPr lang="hr-HR" dirty="0" err="1">
                <a:ea typeface="+mn-lt"/>
                <a:cs typeface="+mn-lt"/>
              </a:rPr>
              <a:t>in</a:t>
            </a:r>
            <a:r>
              <a:rPr lang="hr-HR" dirty="0">
                <a:ea typeface="+mn-lt"/>
                <a:cs typeface="+mn-lt"/>
              </a:rPr>
              <a:t>-Time proizvodnja omogućuje bolju kontrolu procesa i smanjenje otpada kroz pravovremenu isporuku resursa</a:t>
            </a:r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služi kao vizualni signal koji omogućuje provedbu </a:t>
            </a:r>
            <a:r>
              <a:rPr lang="hr-HR" dirty="0" err="1">
                <a:ea typeface="+mn-lt"/>
                <a:cs typeface="+mn-lt"/>
              </a:rPr>
              <a:t>Just</a:t>
            </a:r>
            <a:r>
              <a:rPr lang="hr-HR" dirty="0">
                <a:ea typeface="+mn-lt"/>
                <a:cs typeface="+mn-lt"/>
              </a:rPr>
              <a:t>-</a:t>
            </a:r>
            <a:r>
              <a:rPr lang="hr-HR" dirty="0" err="1">
                <a:ea typeface="+mn-lt"/>
                <a:cs typeface="+mn-lt"/>
              </a:rPr>
              <a:t>in</a:t>
            </a:r>
            <a:r>
              <a:rPr lang="hr-HR" dirty="0">
                <a:ea typeface="+mn-lt"/>
                <a:cs typeface="+mn-lt"/>
              </a:rPr>
              <a:t>-Time principa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4238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2228D53-1CE4-5739-6644-0B6FB84B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Teorijski okvir i principi </a:t>
            </a:r>
            <a:r>
              <a:rPr lang="hr-HR" dirty="0" err="1"/>
              <a:t>Kanbana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E4AA2EE-5BAF-5EB4-B406-DD8F0192B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se ne temelji na strogo definiranim iteracijama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Definiran kroz šest osnovnih praksi (David J. Anderson)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Fokus na kontinuirani protok rada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Cilj je povećanje transparentnosti i učinkovitosti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Temelji se na jasno definiranim principima</a:t>
            </a:r>
            <a:endParaRPr lang="hr-HR" dirty="0"/>
          </a:p>
          <a:p>
            <a:endParaRPr lang="hr-HR" dirty="0"/>
          </a:p>
        </p:txBody>
      </p:sp>
      <p:pic>
        <p:nvPicPr>
          <p:cNvPr id="4" name="Slika 3" descr="Slika na kojoj se prikazuje osoba, Ljudsko lice, odijevanje, osmijeh&#10;&#10;Sadržaj generiran uz AI možda nije točan.">
            <a:extLst>
              <a:ext uri="{FF2B5EF4-FFF2-40B4-BE49-F238E27FC236}">
                <a16:creationId xmlns:a16="http://schemas.microsoft.com/office/drawing/2014/main" id="{C02D9DE3-0DDF-7270-9113-35B5E176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185" y="3069508"/>
            <a:ext cx="3508888" cy="350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557244E-A36A-27A6-5443-5C02DA1B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Vizualizacija i ograničavanje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DF671B5-AD86-F368-1E01-D29B3DD7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Vizualizacija nevidljivog intelektualnog rada</a:t>
            </a:r>
          </a:p>
          <a:p>
            <a:r>
              <a:rPr lang="hr-HR" dirty="0">
                <a:ea typeface="+mn-lt"/>
                <a:cs typeface="+mn-lt"/>
              </a:rPr>
              <a:t>Korištenje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ploče s fazama procesa</a:t>
            </a:r>
          </a:p>
          <a:p>
            <a:r>
              <a:rPr lang="hr-HR" dirty="0">
                <a:ea typeface="+mn-lt"/>
                <a:cs typeface="+mn-lt"/>
              </a:rPr>
              <a:t>Zadaci su prikazani kao kartice</a:t>
            </a:r>
          </a:p>
          <a:p>
            <a:r>
              <a:rPr lang="hr-HR" dirty="0">
                <a:ea typeface="+mn-lt"/>
                <a:cs typeface="+mn-lt"/>
              </a:rPr>
              <a:t>Uvođenje WIP limita po fazama rada</a:t>
            </a:r>
          </a:p>
          <a:p>
            <a:r>
              <a:rPr lang="hr-HR" dirty="0">
                <a:ea typeface="+mn-lt"/>
                <a:cs typeface="+mn-lt"/>
              </a:rPr>
              <a:t>Fokus na završavanje započetih zadataka</a:t>
            </a:r>
          </a:p>
          <a:p>
            <a:endParaRPr lang="hr-HR" dirty="0"/>
          </a:p>
          <a:p>
            <a:r>
              <a:rPr lang="hr-HR" dirty="0">
                <a:ea typeface="+mn-lt"/>
                <a:cs typeface="+mn-lt"/>
              </a:rPr>
              <a:t>Ograničavanje rada u tijeku sprječava preopterećenje i olakšava prepoznavanje zastoja u procesu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4101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8F99EA-12F7-D759-DF8C-418DE36C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Upravljanje protokom i kontinuirano poboljšanje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AC8D0B9-99C7-BF0F-F26F-F63661FA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Praćenje kretanja zadataka kroz proces</a:t>
            </a:r>
          </a:p>
          <a:p>
            <a:r>
              <a:rPr lang="sr-Latn-RS" dirty="0">
                <a:ea typeface="+mn-lt"/>
                <a:cs typeface="+mn-lt"/>
              </a:rPr>
              <a:t>Fokus na brzinu i predvidljivost rada</a:t>
            </a:r>
          </a:p>
          <a:p>
            <a:r>
              <a:rPr lang="sr-Latn-RS" dirty="0">
                <a:ea typeface="+mn-lt"/>
                <a:cs typeface="+mn-lt"/>
              </a:rPr>
              <a:t>Upravljanje radom, a ne pojedincima</a:t>
            </a:r>
          </a:p>
          <a:p>
            <a:r>
              <a:rPr lang="sr-Latn-RS" dirty="0">
                <a:ea typeface="+mn-lt"/>
                <a:cs typeface="+mn-lt"/>
              </a:rPr>
              <a:t>Identifikacija uskih grla u sustavu</a:t>
            </a:r>
          </a:p>
          <a:p>
            <a:r>
              <a:rPr lang="sr-Latn-RS" dirty="0">
                <a:ea typeface="+mn-lt"/>
                <a:cs typeface="+mn-lt"/>
              </a:rPr>
              <a:t>Kontinuirano poboljšanje kroz </a:t>
            </a:r>
            <a:r>
              <a:rPr lang="sr-Latn-RS" dirty="0" err="1">
                <a:ea typeface="+mn-lt"/>
                <a:cs typeface="+mn-lt"/>
              </a:rPr>
              <a:t>Kaizen</a:t>
            </a:r>
            <a:r>
              <a:rPr lang="sr-Latn-RS" dirty="0">
                <a:ea typeface="+mn-lt"/>
                <a:cs typeface="+mn-lt"/>
              </a:rPr>
              <a:t> pristup</a:t>
            </a:r>
          </a:p>
          <a:p>
            <a:endParaRPr lang="sr-Latn-RS" dirty="0"/>
          </a:p>
          <a:p>
            <a:r>
              <a:rPr lang="sr-Latn-RS" dirty="0" err="1">
                <a:ea typeface="+mn-lt"/>
                <a:cs typeface="+mn-lt"/>
              </a:rPr>
              <a:t>Kanban</a:t>
            </a:r>
            <a:r>
              <a:rPr lang="sr-Latn-RS" dirty="0">
                <a:ea typeface="+mn-lt"/>
                <a:cs typeface="+mn-lt"/>
              </a:rPr>
              <a:t> potiče evolucijske </a:t>
            </a:r>
            <a:r>
              <a:rPr lang="sr-Latn-RS" dirty="0" err="1">
                <a:ea typeface="+mn-lt"/>
                <a:cs typeface="+mn-lt"/>
              </a:rPr>
              <a:t>promjene</a:t>
            </a:r>
            <a:r>
              <a:rPr lang="sr-Latn-RS" dirty="0">
                <a:ea typeface="+mn-lt"/>
                <a:cs typeface="+mn-lt"/>
              </a:rPr>
              <a:t> temeljene na povratnim informacijama i stalnom </a:t>
            </a:r>
            <a:r>
              <a:rPr lang="sr-Latn-RS" dirty="0" err="1">
                <a:ea typeface="+mn-lt"/>
                <a:cs typeface="+mn-lt"/>
              </a:rPr>
              <a:t>unaprjeđenju</a:t>
            </a:r>
            <a:r>
              <a:rPr lang="sr-Latn-RS" dirty="0">
                <a:ea typeface="+mn-lt"/>
                <a:cs typeface="+mn-lt"/>
              </a:rPr>
              <a:t> procesa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81630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1EAC50B-9D05-6F3C-585A-3426F7F5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Kanban</a:t>
            </a:r>
            <a:r>
              <a:rPr lang="hr-HR" dirty="0"/>
              <a:t> vs </a:t>
            </a:r>
            <a:r>
              <a:rPr lang="hr-HR" dirty="0" err="1"/>
              <a:t>Scrum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314FBBC-24A2-4195-0748-A58223CF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Oba pristupa pripadaju agilnim metodologijama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Razlikuju se u strukturi i upravljanju vremenom</a:t>
            </a:r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Scrum</a:t>
            </a:r>
            <a:r>
              <a:rPr lang="hr-HR" dirty="0">
                <a:ea typeface="+mn-lt"/>
                <a:cs typeface="+mn-lt"/>
              </a:rPr>
              <a:t> se temelji na fiksnim iteracijama (sprintovima)</a:t>
            </a:r>
            <a:endParaRPr lang="hr-HR" dirty="0"/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se fokusira na kontinuirani protok rada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Odabir ovisi o prirodi posla i potrebama tima</a:t>
            </a:r>
            <a:endParaRPr lang="hr-HR" dirty="0"/>
          </a:p>
          <a:p>
            <a:endParaRPr lang="hr-HR" dirty="0"/>
          </a:p>
        </p:txBody>
      </p:sp>
      <p:pic>
        <p:nvPicPr>
          <p:cNvPr id="4" name="Slika 3" descr="Slika na kojoj se prikazuje tekst, snimka zaslona, dizajn, Font&#10;&#10;Sadržaj generiran uz AI možda nije točan.">
            <a:extLst>
              <a:ext uri="{FF2B5EF4-FFF2-40B4-BE49-F238E27FC236}">
                <a16:creationId xmlns:a16="http://schemas.microsoft.com/office/drawing/2014/main" id="{E77C01D6-11D3-B42E-FCE4-A8AD559D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897" y="3982065"/>
            <a:ext cx="4169496" cy="287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47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34465B-EC4F-4BE4-57EB-04002945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Fleksibilnost i organizacija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F3377DF-3C54-0A8B-2CFB-D64592CEA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Scrum</a:t>
            </a:r>
            <a:r>
              <a:rPr lang="hr-HR" dirty="0">
                <a:ea typeface="+mn-lt"/>
                <a:cs typeface="+mn-lt"/>
              </a:rPr>
              <a:t> koristi vremenski ograničene sprintove</a:t>
            </a:r>
          </a:p>
          <a:p>
            <a:r>
              <a:rPr lang="hr-HR" dirty="0">
                <a:ea typeface="+mn-lt"/>
                <a:cs typeface="+mn-lt"/>
              </a:rPr>
              <a:t>Opseg rada u sprintu se u pravilu ne mijenja</a:t>
            </a:r>
          </a:p>
          <a:p>
            <a:r>
              <a:rPr lang="hr-HR" dirty="0">
                <a:ea typeface="+mn-lt"/>
                <a:cs typeface="+mn-lt"/>
              </a:rPr>
              <a:t>Definirane uloge i obvezne ceremonije</a:t>
            </a:r>
          </a:p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nema fiksne vremenske okvire</a:t>
            </a:r>
          </a:p>
          <a:p>
            <a:r>
              <a:rPr lang="hr-HR" dirty="0">
                <a:ea typeface="+mn-lt"/>
                <a:cs typeface="+mn-lt"/>
              </a:rPr>
              <a:t>Uloge i sastanci su fleksibilni i prilagodljivi</a:t>
            </a:r>
          </a:p>
          <a:p>
            <a:endParaRPr lang="hr-HR" dirty="0"/>
          </a:p>
          <a:p>
            <a:r>
              <a:rPr lang="hr-HR">
                <a:ea typeface="+mn-lt"/>
                <a:cs typeface="+mn-lt"/>
              </a:rPr>
              <a:t>Kanban omogućuje timovima brzu prilagodbu promjenama prioriteta bez promjene postojeće strukture.</a:t>
            </a:r>
            <a:endParaRPr lang="hr-H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3117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1F8C761-9EFD-6632-A7A8-10977C45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Mjerenje učinkovitosti u </a:t>
            </a:r>
            <a:r>
              <a:rPr lang="hr-HR" dirty="0" err="1"/>
              <a:t>Kanbanu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6191AF9-2F2E-75BB-EF44-E7D7E509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koristi metrike protoka umjesto postotka izvršenja</a:t>
            </a:r>
          </a:p>
          <a:p>
            <a:r>
              <a:rPr lang="hr-HR" dirty="0">
                <a:ea typeface="+mn-lt"/>
                <a:cs typeface="+mn-lt"/>
              </a:rPr>
              <a:t>Fokus na brzinu i predvidljivost sustava</a:t>
            </a:r>
          </a:p>
          <a:p>
            <a:r>
              <a:rPr lang="hr-HR" dirty="0">
                <a:ea typeface="+mn-lt"/>
                <a:cs typeface="+mn-lt"/>
              </a:rPr>
              <a:t>Ključne metrike: </a:t>
            </a:r>
            <a:r>
              <a:rPr lang="hr-HR" dirty="0" err="1">
                <a:ea typeface="+mn-lt"/>
                <a:cs typeface="+mn-lt"/>
              </a:rPr>
              <a:t>Lead</a:t>
            </a:r>
            <a:r>
              <a:rPr lang="hr-HR" dirty="0">
                <a:ea typeface="+mn-lt"/>
                <a:cs typeface="+mn-lt"/>
              </a:rPr>
              <a:t> Time i </a:t>
            </a:r>
            <a:r>
              <a:rPr lang="hr-HR" dirty="0" err="1">
                <a:ea typeface="+mn-lt"/>
                <a:cs typeface="+mn-lt"/>
              </a:rPr>
              <a:t>Cycle</a:t>
            </a:r>
            <a:r>
              <a:rPr lang="hr-HR" dirty="0">
                <a:ea typeface="+mn-lt"/>
                <a:cs typeface="+mn-lt"/>
              </a:rPr>
              <a:t> Time</a:t>
            </a:r>
          </a:p>
          <a:p>
            <a:r>
              <a:rPr lang="hr-HR" dirty="0">
                <a:ea typeface="+mn-lt"/>
                <a:cs typeface="+mn-lt"/>
              </a:rPr>
              <a:t>Mjere isporuku vrijednosti prema klijentu</a:t>
            </a:r>
          </a:p>
          <a:p>
            <a:r>
              <a:rPr lang="hr-HR" dirty="0">
                <a:ea typeface="+mn-lt"/>
                <a:cs typeface="+mn-lt"/>
              </a:rPr>
              <a:t>Omogućuju objektivnu analizu procesa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42653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FBBA903-3FDA-F533-D31F-1CE9691E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Ključne metrike i alati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A493209-80BD-45DF-E574-1040F9A16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Lead</a:t>
            </a:r>
            <a:r>
              <a:rPr lang="hr-HR" dirty="0">
                <a:ea typeface="+mn-lt"/>
                <a:cs typeface="+mn-lt"/>
              </a:rPr>
              <a:t> Time: vrijeme od zahtjeva do isporuke</a:t>
            </a:r>
          </a:p>
          <a:p>
            <a:r>
              <a:rPr lang="hr-HR" dirty="0" err="1">
                <a:ea typeface="+mn-lt"/>
                <a:cs typeface="+mn-lt"/>
              </a:rPr>
              <a:t>Cycle</a:t>
            </a:r>
            <a:r>
              <a:rPr lang="hr-HR" dirty="0">
                <a:ea typeface="+mn-lt"/>
                <a:cs typeface="+mn-lt"/>
              </a:rPr>
              <a:t> Time: vrijeme aktivnog rada na zadatku</a:t>
            </a:r>
          </a:p>
          <a:p>
            <a:r>
              <a:rPr lang="hr-HR" dirty="0">
                <a:ea typeface="+mn-lt"/>
                <a:cs typeface="+mn-lt"/>
              </a:rPr>
              <a:t>Smanjenje </a:t>
            </a:r>
            <a:r>
              <a:rPr lang="hr-HR" dirty="0" err="1">
                <a:ea typeface="+mn-lt"/>
                <a:cs typeface="+mn-lt"/>
              </a:rPr>
              <a:t>Cycle</a:t>
            </a:r>
            <a:r>
              <a:rPr lang="hr-HR" dirty="0">
                <a:ea typeface="+mn-lt"/>
                <a:cs typeface="+mn-lt"/>
              </a:rPr>
              <a:t> Timea povećava učinkovitost</a:t>
            </a:r>
          </a:p>
          <a:p>
            <a:r>
              <a:rPr lang="hr-HR" dirty="0" err="1">
                <a:ea typeface="+mn-lt"/>
                <a:cs typeface="+mn-lt"/>
              </a:rPr>
              <a:t>Cumulative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Flow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Diagram</a:t>
            </a:r>
            <a:r>
              <a:rPr lang="hr-HR" dirty="0">
                <a:ea typeface="+mn-lt"/>
                <a:cs typeface="+mn-lt"/>
              </a:rPr>
              <a:t> (CFD) za analizu stabilnosti</a:t>
            </a:r>
          </a:p>
          <a:p>
            <a:r>
              <a:rPr lang="hr-HR" dirty="0">
                <a:ea typeface="+mn-lt"/>
                <a:cs typeface="+mn-lt"/>
              </a:rPr>
              <a:t>Omogućuje uočavanje uskih grla i zastoja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35567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7A41D0-3902-64B0-7A18-F49493E6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E56D5624-B49E-FCA6-89B1-310910AB2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485"/>
            <a:ext cx="6096000" cy="3498189"/>
          </a:xfrm>
          <a:prstGeom prst="rect">
            <a:avLst/>
          </a:prstGeom>
        </p:spPr>
      </p:pic>
      <p:pic>
        <p:nvPicPr>
          <p:cNvPr id="5" name="Slika 4" descr="Slika na kojoj se prikazuje tekst, rukopis, Font, crta&#10;&#10;Sadržaj generiran uz AI možda nije točan.">
            <a:extLst>
              <a:ext uri="{FF2B5EF4-FFF2-40B4-BE49-F238E27FC236}">
                <a16:creationId xmlns:a16="http://schemas.microsoft.com/office/drawing/2014/main" id="{E2D64839-FD37-0DCB-422B-65367517A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781" y="3228558"/>
            <a:ext cx="6482220" cy="362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68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CCC0D48-ED10-6DE3-FF54-3D032506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Digitalni alati za </a:t>
            </a:r>
            <a:r>
              <a:rPr lang="hr-HR" dirty="0" err="1"/>
              <a:t>Kanban</a:t>
            </a:r>
            <a:endParaRPr lang="sr-Latn-RS" dirty="0" err="1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B1DD751-86D0-E81A-BD97-393BAC09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se može provoditi i fizički, ali digitalni alati su nužni za distribuirane timove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Omogućuju automatsko prikupljanje podataka o Cycle Timeu</a:t>
            </a:r>
          </a:p>
          <a:p>
            <a:r>
              <a:rPr lang="hr-HR" dirty="0">
                <a:ea typeface="+mn-lt"/>
                <a:cs typeface="+mn-lt"/>
              </a:rPr>
              <a:t>Generiraju izvještaje i analitiku</a:t>
            </a:r>
          </a:p>
          <a:p>
            <a:r>
              <a:rPr lang="hr-HR" dirty="0">
                <a:ea typeface="+mn-lt"/>
                <a:cs typeface="+mn-lt"/>
              </a:rPr>
              <a:t>Pomažu u optimizaciji procesa i predviđanju protoka rada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91950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693E596-FD39-4CA5-F073-B5B0D132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Trello</a:t>
            </a:r>
            <a:r>
              <a:rPr lang="hr-HR" dirty="0"/>
              <a:t>: jednostavnost i vizualizacija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11F45EB-CCD5-5E3D-9612-01ADD772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Ekstremno jednostavan i intuitivan alat</a:t>
            </a:r>
          </a:p>
          <a:p>
            <a:r>
              <a:rPr lang="hr-HR" dirty="0">
                <a:ea typeface="+mn-lt"/>
                <a:cs typeface="+mn-lt"/>
              </a:rPr>
              <a:t>Koristi ploče, liste i kartice</a:t>
            </a:r>
          </a:p>
          <a:p>
            <a:r>
              <a:rPr lang="hr-HR" dirty="0">
                <a:ea typeface="+mn-lt"/>
                <a:cs typeface="+mn-lt"/>
              </a:rPr>
              <a:t>Idealan za male timove i osobnu organizaciju</a:t>
            </a:r>
          </a:p>
          <a:p>
            <a:r>
              <a:rPr lang="hr-HR" dirty="0">
                <a:ea typeface="+mn-lt"/>
                <a:cs typeface="+mn-lt"/>
              </a:rPr>
              <a:t>Ograničena dubinska analitika bez dodataka (Power-</a:t>
            </a:r>
            <a:r>
              <a:rPr lang="hr-HR" dirty="0" err="1">
                <a:ea typeface="+mn-lt"/>
                <a:cs typeface="+mn-lt"/>
              </a:rPr>
              <a:t>Ups</a:t>
            </a:r>
            <a:r>
              <a:rPr lang="hr-HR" dirty="0">
                <a:ea typeface="+mn-lt"/>
                <a:cs typeface="+mn-lt"/>
              </a:rPr>
              <a:t>)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76462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4A8564-8BC7-41D3-72A2-A46C2AA9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snimka zaslona, softver, broj&#10;&#10;Sadržaj generiran uz AI možda nije točan.">
            <a:extLst>
              <a:ext uri="{FF2B5EF4-FFF2-40B4-BE49-F238E27FC236}">
                <a16:creationId xmlns:a16="http://schemas.microsoft.com/office/drawing/2014/main" id="{B4EF29CB-5993-8569-6A9C-524CFC814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461"/>
            <a:ext cx="6899753" cy="4342240"/>
          </a:xfrm>
          <a:prstGeom prst="rect">
            <a:avLst/>
          </a:prstGeom>
        </p:spPr>
      </p:pic>
      <p:pic>
        <p:nvPicPr>
          <p:cNvPr id="5" name="Slika 4" descr="Slika na kojoj se prikazuje tekst, snimka zaslona, softver, Ikona na računalu&#10;&#10;Sadržaj generiran uz AI možda nije točan.">
            <a:extLst>
              <a:ext uri="{FF2B5EF4-FFF2-40B4-BE49-F238E27FC236}">
                <a16:creationId xmlns:a16="http://schemas.microsoft.com/office/drawing/2014/main" id="{1AA2CAE7-98B3-5527-C0DF-7C89EA8EF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413" y="2880985"/>
            <a:ext cx="7870652" cy="39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16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E01CEAC-7A7B-00E1-4DD5-BE8B1694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Jira</a:t>
            </a:r>
            <a:r>
              <a:rPr lang="hr-HR" dirty="0"/>
              <a:t>: napredno upravljanje razvojnim timovima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1C77045-935A-798C-D60C-D27CE92E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Industrijski standard za razvoj softvera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Moćne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ploče povezane s repozitorijima koda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Precizno definiranje WIP limita i automatizacija procesa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Detaljno praćenje </a:t>
            </a:r>
            <a:r>
              <a:rPr lang="hr-HR" dirty="0" err="1">
                <a:ea typeface="+mn-lt"/>
                <a:cs typeface="+mn-lt"/>
              </a:rPr>
              <a:t>backloga</a:t>
            </a:r>
            <a:r>
              <a:rPr lang="hr-HR" dirty="0">
                <a:ea typeface="+mn-lt"/>
                <a:cs typeface="+mn-lt"/>
              </a:rPr>
              <a:t> i kompleksnih </a:t>
            </a:r>
            <a:r>
              <a:rPr lang="hr-HR" dirty="0" err="1">
                <a:ea typeface="+mn-lt"/>
                <a:cs typeface="+mn-lt"/>
              </a:rPr>
              <a:t>workflowa</a:t>
            </a:r>
            <a:endParaRPr lang="hr-HR" dirty="0" err="1"/>
          </a:p>
          <a:p>
            <a:r>
              <a:rPr lang="hr-HR" dirty="0">
                <a:ea typeface="+mn-lt"/>
                <a:cs typeface="+mn-lt"/>
              </a:rPr>
              <a:t>Robusno, ali složeno sučelje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55652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5C2AAC-CABE-25B3-06DF-CF33A0FC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snimka zaslona, softver, Ikona na računalu&#10;&#10;Sadržaj generiran uz AI možda nije točan.">
            <a:extLst>
              <a:ext uri="{FF2B5EF4-FFF2-40B4-BE49-F238E27FC236}">
                <a16:creationId xmlns:a16="http://schemas.microsoft.com/office/drawing/2014/main" id="{F6C42E96-965D-4EBB-EA73-959FE2920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6275" y="3432457"/>
            <a:ext cx="6565725" cy="3434114"/>
          </a:xfrm>
          <a:prstGeom prst="rect">
            <a:avLst/>
          </a:prstGeom>
        </p:spPr>
      </p:pic>
      <p:pic>
        <p:nvPicPr>
          <p:cNvPr id="5" name="Slika 4" descr="Slika na kojoj se prikazuje tekst, snimka zaslona, softver, Ikona na računalu&#10;&#10;Sadržaj generiran uz AI možda nije točan.">
            <a:extLst>
              <a:ext uri="{FF2B5EF4-FFF2-40B4-BE49-F238E27FC236}">
                <a16:creationId xmlns:a16="http://schemas.microsoft.com/office/drawing/2014/main" id="{467C043D-6B23-4262-9E5B-E73C3C193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75"/>
            <a:ext cx="6315205" cy="32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75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A26D65C-F80A-E7D6-4DC7-916179D3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Kanbanize</a:t>
            </a:r>
            <a:r>
              <a:rPr lang="hr-HR" dirty="0"/>
              <a:t>/</a:t>
            </a:r>
            <a:r>
              <a:rPr lang="hr-HR" dirty="0" err="1"/>
              <a:t>Businessmap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2305292-5810-8D57-0724-881CD8B04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Napredni analitički moduli i Monte Carlo simulacije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Hijerarhijsko povezivanje ploča (Portfolio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Optimalan za menadžment i velike organizacije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Fokus na optimizaciju protoka na razini cijele tvrtke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987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BFAA5F-EF1B-3820-8665-4B8FE272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Rezervirano mjesto sadržaja 3" descr="Slika na kojoj se prikazuje tekst, snimka zaslona, softver, Ikona na računalu&#10;&#10;Sadržaj generiran uz AI možda nije točan.">
            <a:extLst>
              <a:ext uri="{FF2B5EF4-FFF2-40B4-BE49-F238E27FC236}">
                <a16:creationId xmlns:a16="http://schemas.microsoft.com/office/drawing/2014/main" id="{3F95D8FF-8A68-236E-20C8-DB7828FAE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370" y="1695085"/>
            <a:ext cx="7160712" cy="399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95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0CD82CD-BC33-99ED-29D0-8C816D92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Usporedni prikaz</a:t>
            </a:r>
          </a:p>
        </p:txBody>
      </p:sp>
      <p:graphicFrame>
        <p:nvGraphicFramePr>
          <p:cNvPr id="5" name="Rezervirano mjesto sadržaja 4">
            <a:extLst>
              <a:ext uri="{FF2B5EF4-FFF2-40B4-BE49-F238E27FC236}">
                <a16:creationId xmlns:a16="http://schemas.microsoft.com/office/drawing/2014/main" id="{85FCBD87-3654-7830-9C7A-F31EEB9D6C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92093" y="2112579"/>
          <a:ext cx="10631757" cy="41928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8309">
                  <a:extLst>
                    <a:ext uri="{9D8B030D-6E8A-4147-A177-3AD203B41FA5}">
                      <a16:colId xmlns:a16="http://schemas.microsoft.com/office/drawing/2014/main" val="496706523"/>
                    </a:ext>
                  </a:extLst>
                </a:gridCol>
                <a:gridCol w="2366772">
                  <a:extLst>
                    <a:ext uri="{9D8B030D-6E8A-4147-A177-3AD203B41FA5}">
                      <a16:colId xmlns:a16="http://schemas.microsoft.com/office/drawing/2014/main" val="2168672233"/>
                    </a:ext>
                  </a:extLst>
                </a:gridCol>
                <a:gridCol w="2907511">
                  <a:extLst>
                    <a:ext uri="{9D8B030D-6E8A-4147-A177-3AD203B41FA5}">
                      <a16:colId xmlns:a16="http://schemas.microsoft.com/office/drawing/2014/main" val="391509370"/>
                    </a:ext>
                  </a:extLst>
                </a:gridCol>
                <a:gridCol w="2429165">
                  <a:extLst>
                    <a:ext uri="{9D8B030D-6E8A-4147-A177-3AD203B41FA5}">
                      <a16:colId xmlns:a16="http://schemas.microsoft.com/office/drawing/2014/main" val="4123710637"/>
                    </a:ext>
                  </a:extLst>
                </a:gridCol>
              </a:tblGrid>
              <a:tr h="65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Kriterij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Trello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Jira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Kanbanize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316551"/>
                  </a:ext>
                </a:extLst>
              </a:tr>
              <a:tr h="65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Jednostavnost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Visoka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Srednja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Srednja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990284"/>
                  </a:ext>
                </a:extLst>
              </a:tr>
              <a:tr h="1108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Analitika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Osnovna (dodaci)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Napredna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Ekspertna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30511"/>
                  </a:ext>
                </a:extLst>
              </a:tr>
              <a:tr h="65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Skalabilnost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Niska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Visoka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Vrlo visoka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29514"/>
                  </a:ext>
                </a:extLst>
              </a:tr>
              <a:tr h="1108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Ciljna skupina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Opći timovi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IT / Dev timovi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2900"/>
                        <a:t>Enterprise / Lean</a:t>
                      </a:r>
                    </a:p>
                  </a:txBody>
                  <a:tcPr marL="149743" marR="149743" marT="74872" marB="74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240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178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654B547-DA56-1AA5-6AEF-DE43ABEF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r-HR" sz="5000"/>
              <a:t>Toyota - izvor sustava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9873893-3ED5-539E-E4E7-2829D412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z="2000">
                <a:ea typeface="+mn-lt"/>
                <a:cs typeface="+mn-lt"/>
              </a:rPr>
              <a:t>Primjena Kanbana u automobilskoj industriji</a:t>
            </a:r>
          </a:p>
          <a:p>
            <a:r>
              <a:rPr lang="hr-HR" sz="2000">
                <a:ea typeface="+mn-lt"/>
                <a:cs typeface="+mn-lt"/>
              </a:rPr>
              <a:t>Sustav “pull” – proces vuče dijelove prema potrebi</a:t>
            </a:r>
          </a:p>
          <a:p>
            <a:r>
              <a:rPr lang="hr-HR" sz="2000">
                <a:ea typeface="+mn-lt"/>
                <a:cs typeface="+mn-lt"/>
              </a:rPr>
              <a:t>Smanjenje prekomjerne proizvodnje i zaliha</a:t>
            </a:r>
          </a:p>
          <a:p>
            <a:r>
              <a:rPr lang="hr-HR" sz="2000">
                <a:ea typeface="+mn-lt"/>
                <a:cs typeface="+mn-lt"/>
              </a:rPr>
              <a:t>Povećanje brzine isporuke i smanjenje troškova</a:t>
            </a:r>
          </a:p>
          <a:p>
            <a:r>
              <a:rPr lang="hr-HR" sz="2000">
                <a:ea typeface="+mn-lt"/>
                <a:cs typeface="+mn-lt"/>
              </a:rPr>
              <a:t>Eliminacija otpada (muda) kroz vizualni nadzor procesa</a:t>
            </a:r>
          </a:p>
          <a:p>
            <a:endParaRPr lang="hr-HR" sz="2000"/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73113C39-2076-8D96-27A2-A8E77EAB0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92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B6451E5-B46F-F393-D6F7-1C352682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Spotify</a:t>
            </a:r>
            <a:r>
              <a:rPr lang="hr-HR" dirty="0"/>
              <a:t> – autonomija i agilnost</a:t>
            </a:r>
            <a:endParaRPr lang="sr-Latn-R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AD1640B-78ED-F47F-A934-57120836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>
                <a:ea typeface="+mn-lt"/>
                <a:cs typeface="+mn-lt"/>
              </a:rPr>
              <a:t>Streaming platforma koristi Kanban za kontinuiranu isporuku</a:t>
            </a:r>
          </a:p>
          <a:p>
            <a:r>
              <a:rPr lang="hr-HR">
                <a:ea typeface="+mn-lt"/>
                <a:cs typeface="+mn-lt"/>
              </a:rPr>
              <a:t>Timovi (Squads) koriste Kanban ploče za upravljanje promjenama</a:t>
            </a:r>
          </a:p>
          <a:p>
            <a:r>
              <a:rPr lang="hr-HR">
                <a:ea typeface="+mn-lt"/>
                <a:cs typeface="+mn-lt"/>
              </a:rPr>
              <a:t>Omogućuje kontinuirano ažuriranje usluga bez čekanja na sprint</a:t>
            </a:r>
          </a:p>
          <a:p>
            <a:r>
              <a:rPr lang="hr-HR">
                <a:ea typeface="+mn-lt"/>
                <a:cs typeface="+mn-lt"/>
              </a:rPr>
              <a:t>Potiče agilnost i autonomiju timova</a:t>
            </a:r>
          </a:p>
          <a:p>
            <a:r>
              <a:rPr lang="hr-HR">
                <a:ea typeface="+mn-lt"/>
                <a:cs typeface="+mn-lt"/>
              </a:rPr>
              <a:t>Idealno za dinamična IT okruženja i razvoj softvera</a:t>
            </a:r>
          </a:p>
          <a:p>
            <a:endParaRPr lang="hr-HR" dirty="0"/>
          </a:p>
        </p:txBody>
      </p:sp>
      <p:pic>
        <p:nvPicPr>
          <p:cNvPr id="4" name="Slika 3" descr="Slika na kojoj se prikazuje grafika, šarenilo, krug, dizajn&#10;&#10;Sadržaj generiran uz AI možda nije točan.">
            <a:extLst>
              <a:ext uri="{FF2B5EF4-FFF2-40B4-BE49-F238E27FC236}">
                <a16:creationId xmlns:a16="http://schemas.microsoft.com/office/drawing/2014/main" id="{6A73A8BA-CF81-9845-DABF-CE10F8D2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371" y="4325272"/>
            <a:ext cx="3429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89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D36DAE4-7514-616F-CFCD-8ACCAC53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Kanban</a:t>
            </a:r>
            <a:r>
              <a:rPr lang="hr-HR" dirty="0"/>
              <a:t> u razvoju softverskih rješenja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E7B61B2-072F-1BDA-0EB1-DAD5AD409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pretvara nevidljiv rad (kod) u vizualni sustav</a:t>
            </a:r>
          </a:p>
          <a:p>
            <a:r>
              <a:rPr lang="hr-HR" dirty="0">
                <a:ea typeface="+mn-lt"/>
                <a:cs typeface="+mn-lt"/>
              </a:rPr>
              <a:t>Ploča reflektira stvarni životni ciklus razvoja (SDLC)</a:t>
            </a:r>
          </a:p>
          <a:p>
            <a:r>
              <a:rPr lang="hr-HR" dirty="0">
                <a:ea typeface="+mn-lt"/>
                <a:cs typeface="+mn-lt"/>
              </a:rPr>
              <a:t>Tipične faze:</a:t>
            </a:r>
          </a:p>
          <a:p>
            <a:r>
              <a:rPr lang="hr-HR" dirty="0" err="1">
                <a:ea typeface="+mn-lt"/>
                <a:cs typeface="+mn-lt"/>
              </a:rPr>
              <a:t>Backlog</a:t>
            </a:r>
            <a:r>
              <a:rPr lang="hr-HR" dirty="0">
                <a:ea typeface="+mn-lt"/>
                <a:cs typeface="+mn-lt"/>
              </a:rPr>
              <a:t> – zahtjevi i </a:t>
            </a:r>
            <a:r>
              <a:rPr lang="hr-HR" dirty="0" err="1">
                <a:ea typeface="+mn-lt"/>
                <a:cs typeface="+mn-lt"/>
              </a:rPr>
              <a:t>bugovi</a:t>
            </a:r>
          </a:p>
          <a:p>
            <a:r>
              <a:rPr lang="hr-HR" dirty="0">
                <a:ea typeface="+mn-lt"/>
                <a:cs typeface="+mn-lt"/>
              </a:rPr>
              <a:t>Analiza / Spremno za razvoj</a:t>
            </a:r>
          </a:p>
          <a:p>
            <a:r>
              <a:rPr lang="hr-HR" dirty="0">
                <a:ea typeface="+mn-lt"/>
                <a:cs typeface="+mn-lt"/>
              </a:rPr>
              <a:t>Razvoj (</a:t>
            </a:r>
            <a:r>
              <a:rPr lang="hr-HR" dirty="0" err="1">
                <a:ea typeface="+mn-lt"/>
                <a:cs typeface="+mn-lt"/>
              </a:rPr>
              <a:t>Dev</a:t>
            </a:r>
            <a:r>
              <a:rPr lang="hr-HR" dirty="0">
                <a:ea typeface="+mn-lt"/>
                <a:cs typeface="+mn-lt"/>
              </a:rPr>
              <a:t>)</a:t>
            </a:r>
          </a:p>
          <a:p>
            <a:r>
              <a:rPr lang="hr-HR" dirty="0" err="1">
                <a:ea typeface="+mn-lt"/>
                <a:cs typeface="+mn-lt"/>
              </a:rPr>
              <a:t>Code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Review</a:t>
            </a:r>
            <a:r>
              <a:rPr lang="hr-HR" dirty="0">
                <a:ea typeface="+mn-lt"/>
                <a:cs typeface="+mn-lt"/>
              </a:rPr>
              <a:t> – pregled koda</a:t>
            </a:r>
          </a:p>
          <a:p>
            <a:r>
              <a:rPr lang="hr-HR" dirty="0">
                <a:ea typeface="+mn-lt"/>
                <a:cs typeface="+mn-lt"/>
              </a:rPr>
              <a:t>Testiranje (QA)</a:t>
            </a:r>
          </a:p>
          <a:p>
            <a:r>
              <a:rPr lang="hr-HR" dirty="0">
                <a:ea typeface="+mn-lt"/>
                <a:cs typeface="+mn-lt"/>
              </a:rPr>
              <a:t>Isporuka (</a:t>
            </a:r>
            <a:r>
              <a:rPr lang="hr-HR" dirty="0" err="1">
                <a:ea typeface="+mn-lt"/>
                <a:cs typeface="+mn-lt"/>
              </a:rPr>
              <a:t>Deployment</a:t>
            </a:r>
            <a:r>
              <a:rPr lang="hr-HR" dirty="0">
                <a:ea typeface="+mn-lt"/>
                <a:cs typeface="+mn-lt"/>
              </a:rPr>
              <a:t>)</a:t>
            </a:r>
          </a:p>
          <a:p>
            <a:r>
              <a:rPr lang="hr-HR" dirty="0">
                <a:ea typeface="+mn-lt"/>
                <a:cs typeface="+mn-lt"/>
              </a:rPr>
              <a:t>Omogućuje praćenje napretka, identifikaciju uskih grla i bolju koordinaciju tima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37957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B620C40-E23E-80E4-5EE2-C7E3249C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Benefiti </a:t>
            </a:r>
            <a:r>
              <a:rPr lang="hr-HR" dirty="0" err="1"/>
              <a:t>kanbana</a:t>
            </a:r>
            <a:r>
              <a:rPr lang="hr-HR" dirty="0"/>
              <a:t> u razvoju softvera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179C037-7426-22BD-DC3B-4FF49D93D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hr-HR" b="1" dirty="0">
                <a:ea typeface="+mn-lt"/>
                <a:cs typeface="+mn-lt"/>
              </a:rPr>
              <a:t>Upravljanje hitnim intervencijama (</a:t>
            </a:r>
            <a:r>
              <a:rPr lang="hr-HR" b="1" dirty="0" err="1">
                <a:ea typeface="+mn-lt"/>
                <a:cs typeface="+mn-lt"/>
              </a:rPr>
              <a:t>Swimlanes</a:t>
            </a:r>
            <a:r>
              <a:rPr lang="hr-HR" b="1" dirty="0">
                <a:ea typeface="+mn-lt"/>
                <a:cs typeface="+mn-lt"/>
              </a:rPr>
              <a:t>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Horizontalni redovi na ploči (</a:t>
            </a:r>
            <a:r>
              <a:rPr lang="hr-HR" dirty="0" err="1">
                <a:ea typeface="+mn-lt"/>
                <a:cs typeface="+mn-lt"/>
              </a:rPr>
              <a:t>Swimlanes</a:t>
            </a:r>
            <a:r>
              <a:rPr lang="hr-HR" dirty="0">
                <a:ea typeface="+mn-lt"/>
                <a:cs typeface="+mn-lt"/>
              </a:rPr>
              <a:t>) za različite prioritete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“Brza traka” (</a:t>
            </a:r>
            <a:r>
              <a:rPr lang="hr-HR" dirty="0" err="1">
                <a:ea typeface="+mn-lt"/>
                <a:cs typeface="+mn-lt"/>
              </a:rPr>
              <a:t>Expedite</a:t>
            </a:r>
            <a:r>
              <a:rPr lang="hr-HR" dirty="0">
                <a:ea typeface="+mn-lt"/>
                <a:cs typeface="+mn-lt"/>
              </a:rPr>
              <a:t> lane) za kritične zadatke i </a:t>
            </a:r>
            <a:r>
              <a:rPr lang="hr-HR" dirty="0" err="1">
                <a:ea typeface="+mn-lt"/>
                <a:cs typeface="+mn-lt"/>
              </a:rPr>
              <a:t>bugove</a:t>
            </a:r>
            <a:endParaRPr lang="hr-HR" dirty="0" err="1"/>
          </a:p>
          <a:p>
            <a:r>
              <a:rPr lang="hr-HR" dirty="0">
                <a:ea typeface="+mn-lt"/>
                <a:cs typeface="+mn-lt"/>
              </a:rPr>
              <a:t>Privremeno prekoračenje WIP limita kako bi se hitno riješio zadatak</a:t>
            </a:r>
            <a:endParaRPr lang="hr-HR" dirty="0"/>
          </a:p>
          <a:p>
            <a:r>
              <a:rPr lang="hr-HR" b="1" dirty="0">
                <a:ea typeface="+mn-lt"/>
                <a:cs typeface="+mn-lt"/>
              </a:rPr>
              <a:t>Poboljšanje kvalitete kroz WIP limite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Ograničava broj zadataka u tijeku kako bi se smanjio </a:t>
            </a:r>
            <a:r>
              <a:rPr lang="hr-HR" i="1" dirty="0" err="1">
                <a:ea typeface="+mn-lt"/>
                <a:cs typeface="+mn-lt"/>
              </a:rPr>
              <a:t>context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switching</a:t>
            </a:r>
            <a:endParaRPr lang="hr-HR" dirty="0" err="1"/>
          </a:p>
          <a:p>
            <a:r>
              <a:rPr lang="hr-HR" dirty="0">
                <a:ea typeface="+mn-lt"/>
                <a:cs typeface="+mn-lt"/>
              </a:rPr>
              <a:t>Poticaj na završavanje postojećih zadataka prije otvaranja novih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Smanjuje broj pogrešaka i ubrzava isporuku</a:t>
            </a:r>
            <a:endParaRPr lang="hr-HR" dirty="0"/>
          </a:p>
          <a:p>
            <a:r>
              <a:rPr lang="hr-HR" b="1" dirty="0">
                <a:ea typeface="+mn-lt"/>
                <a:cs typeface="+mn-lt"/>
              </a:rPr>
              <a:t>Kontinuirana isporuka (CI/CD)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Svaka gotova funkcionalnost ide odmah u produkciju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Smanjuje rizik velikih kvarova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Omogućuje brzu povratnu informaciju od korisnika</a:t>
            </a:r>
            <a:endParaRPr lang="hr-HR" dirty="0"/>
          </a:p>
          <a:p>
            <a:r>
              <a:rPr lang="hr-HR" b="1" dirty="0">
                <a:ea typeface="+mn-lt"/>
                <a:cs typeface="+mn-lt"/>
              </a:rPr>
              <a:t>Vidljivost i predvidljiv protok rada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Jasno prikazuje fazu svakog zadatka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Pomaže u prepoznavanju uskih grla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Omogućuje pravovremenu reakciju i optimizaciju procesa</a:t>
            </a:r>
            <a:endParaRPr lang="hr-HR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81100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F02BCC-B98A-D130-A2A9-CA612F52B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Česte loše primjene </a:t>
            </a:r>
            <a:r>
              <a:rPr lang="hr-HR" dirty="0" err="1"/>
              <a:t>Kanbana</a:t>
            </a:r>
            <a:r>
              <a:rPr lang="hr-HR" dirty="0"/>
              <a:t> (anti-</a:t>
            </a:r>
            <a:r>
              <a:rPr lang="hr-HR" dirty="0" err="1"/>
              <a:t>patterns</a:t>
            </a:r>
            <a:r>
              <a:rPr lang="hr-HR" dirty="0"/>
              <a:t>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1408678-7A3A-9FFB-9321-2AB41358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hr-HR" b="1" dirty="0" err="1">
                <a:ea typeface="+mn-lt"/>
                <a:cs typeface="+mn-lt"/>
              </a:rPr>
              <a:t>Kanban</a:t>
            </a:r>
            <a:r>
              <a:rPr lang="hr-HR" b="1" dirty="0">
                <a:ea typeface="+mn-lt"/>
                <a:cs typeface="+mn-lt"/>
              </a:rPr>
              <a:t> kao obična To-Do lista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Ploča služi samo za vizualizaciju zadataka, bez upravljanja protokom</a:t>
            </a:r>
            <a:endParaRPr lang="hr-HR" dirty="0"/>
          </a:p>
          <a:p>
            <a:r>
              <a:rPr lang="hr-HR" dirty="0">
                <a:ea typeface="+mn-lt"/>
                <a:cs typeface="+mn-lt"/>
              </a:rPr>
              <a:t>Izostanak WIP limita i praćenja metrika gubi analitičku vrijednost</a:t>
            </a:r>
            <a:endParaRPr lang="hr-HR"/>
          </a:p>
          <a:p>
            <a:r>
              <a:rPr lang="hr-HR" b="1" dirty="0">
                <a:ea typeface="+mn-lt"/>
                <a:cs typeface="+mn-lt"/>
              </a:rPr>
              <a:t>Neprimjereni ili ignorirani WIP limiti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Previsoki limiti ili njihovo kršenje uklanjaju mogućnost prepoznavanja uskih grla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Povećava </a:t>
            </a:r>
            <a:r>
              <a:rPr lang="hr-HR" i="1" dirty="0" err="1">
                <a:ea typeface="+mn-lt"/>
                <a:cs typeface="+mn-lt"/>
              </a:rPr>
              <a:t>context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switching</a:t>
            </a:r>
            <a:r>
              <a:rPr lang="hr-HR" dirty="0">
                <a:ea typeface="+mn-lt"/>
                <a:cs typeface="+mn-lt"/>
              </a:rPr>
              <a:t> i smanjuje učinkovitost tima</a:t>
            </a:r>
            <a:endParaRPr lang="hr-HR" dirty="0"/>
          </a:p>
          <a:p>
            <a:r>
              <a:rPr lang="hr-HR" b="1" dirty="0">
                <a:ea typeface="+mn-lt"/>
                <a:cs typeface="+mn-lt"/>
              </a:rPr>
              <a:t>Prekomjerna fragmentacija procesa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Previše stupaca vodi do mikro-upravljanja i smanjene preglednosti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Teže je identificirati stvarne probleme i donijeti odluke</a:t>
            </a:r>
            <a:endParaRPr lang="hr-HR"/>
          </a:p>
          <a:p>
            <a:r>
              <a:rPr lang="hr-HR" b="1" dirty="0">
                <a:ea typeface="+mn-lt"/>
                <a:cs typeface="+mn-lt"/>
              </a:rPr>
              <a:t>Izostanak analize metrika protoka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Bez </a:t>
            </a:r>
            <a:r>
              <a:rPr lang="hr-HR" dirty="0" err="1">
                <a:ea typeface="+mn-lt"/>
                <a:cs typeface="+mn-lt"/>
              </a:rPr>
              <a:t>Lead</a:t>
            </a:r>
            <a:r>
              <a:rPr lang="hr-HR" dirty="0">
                <a:ea typeface="+mn-lt"/>
                <a:cs typeface="+mn-lt"/>
              </a:rPr>
              <a:t> Timea, </a:t>
            </a:r>
            <a:r>
              <a:rPr lang="hr-HR" dirty="0" err="1">
                <a:ea typeface="+mn-lt"/>
                <a:cs typeface="+mn-lt"/>
              </a:rPr>
              <a:t>Cycle</a:t>
            </a:r>
            <a:r>
              <a:rPr lang="hr-HR" dirty="0">
                <a:ea typeface="+mn-lt"/>
                <a:cs typeface="+mn-lt"/>
              </a:rPr>
              <a:t> Timea i CFD-a, </a:t>
            </a:r>
            <a:r>
              <a:rPr lang="hr-HR" dirty="0" err="1">
                <a:ea typeface="+mn-lt"/>
                <a:cs typeface="+mn-lt"/>
              </a:rPr>
              <a:t>Kanban</a:t>
            </a:r>
            <a:r>
              <a:rPr lang="hr-HR" dirty="0">
                <a:ea typeface="+mn-lt"/>
                <a:cs typeface="+mn-lt"/>
              </a:rPr>
              <a:t> postaje statična ploča</a:t>
            </a:r>
            <a:endParaRPr lang="hr-HR"/>
          </a:p>
          <a:p>
            <a:r>
              <a:rPr lang="hr-HR" dirty="0">
                <a:ea typeface="+mn-lt"/>
                <a:cs typeface="+mn-lt"/>
              </a:rPr>
              <a:t>Timovi se oslanjaju na subjektivne procjene, smanjujući kontinuirano poboljšanje</a:t>
            </a:r>
            <a:endParaRPr lang="hr-HR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77813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48EBF4-B90F-A097-35BA-5E8D688A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A23F0FD-C873-A83C-30C7-BA3E632CB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r-HR" b="1">
                <a:ea typeface="+mn-lt"/>
                <a:cs typeface="+mn-lt"/>
              </a:rPr>
              <a:t>Jednostavnost i evolucija</a:t>
            </a:r>
            <a:endParaRPr lang="hr-HR">
              <a:ea typeface="+mn-lt"/>
              <a:cs typeface="+mn-lt"/>
            </a:endParaRPr>
          </a:p>
          <a:p>
            <a:pPr lvl="1"/>
            <a:r>
              <a:rPr lang="hr-HR" sz="2800" dirty="0" err="1">
                <a:ea typeface="+mn-lt"/>
                <a:cs typeface="+mn-lt"/>
              </a:rPr>
              <a:t>Kanban</a:t>
            </a:r>
            <a:r>
              <a:rPr lang="hr-HR" sz="2800" dirty="0">
                <a:ea typeface="+mn-lt"/>
                <a:cs typeface="+mn-lt"/>
              </a:rPr>
              <a:t> ne zahtijeva radikalne promjene u strukturi tima</a:t>
            </a:r>
          </a:p>
          <a:p>
            <a:pPr lvl="1"/>
            <a:r>
              <a:rPr lang="hr-HR" sz="2800">
                <a:ea typeface="+mn-lt"/>
                <a:cs typeface="+mn-lt"/>
              </a:rPr>
              <a:t>Poticanje stalnog poboljšanja kroz vizualizaciju i WIP limite</a:t>
            </a:r>
          </a:p>
          <a:p>
            <a:r>
              <a:rPr lang="hr-HR" b="1">
                <a:ea typeface="+mn-lt"/>
                <a:cs typeface="+mn-lt"/>
              </a:rPr>
              <a:t>Fokus na ljude i Kaizen</a:t>
            </a:r>
            <a:endParaRPr lang="hr-HR">
              <a:ea typeface="+mn-lt"/>
              <a:cs typeface="+mn-lt"/>
            </a:endParaRPr>
          </a:p>
          <a:p>
            <a:pPr lvl="1"/>
            <a:r>
              <a:rPr lang="hr-HR" sz="2800">
                <a:ea typeface="+mn-lt"/>
                <a:cs typeface="+mn-lt"/>
              </a:rPr>
              <a:t>Srž Kanbana je u članovima tima i njihovoj težnji ka kontinuiranom napretku</a:t>
            </a:r>
          </a:p>
          <a:p>
            <a:pPr lvl="1"/>
            <a:r>
              <a:rPr lang="hr-HR" sz="2800">
                <a:ea typeface="+mn-lt"/>
                <a:cs typeface="+mn-lt"/>
              </a:rPr>
              <a:t>Digitalni alati olakšavaju implementaciju, ali ljudski faktor ostaje ključan</a:t>
            </a:r>
          </a:p>
          <a:p>
            <a:r>
              <a:rPr lang="hr-HR" b="1">
                <a:ea typeface="+mn-lt"/>
                <a:cs typeface="+mn-lt"/>
              </a:rPr>
              <a:t>Rezultati primjene</a:t>
            </a:r>
            <a:endParaRPr lang="hr-HR">
              <a:ea typeface="+mn-lt"/>
              <a:cs typeface="+mn-lt"/>
            </a:endParaRPr>
          </a:p>
          <a:p>
            <a:pPr lvl="1"/>
            <a:r>
              <a:rPr lang="hr-HR" sz="2800">
                <a:ea typeface="+mn-lt"/>
                <a:cs typeface="+mn-lt"/>
              </a:rPr>
              <a:t>Kraće vrijeme isporuke zadataka</a:t>
            </a:r>
          </a:p>
          <a:p>
            <a:pPr lvl="1"/>
            <a:r>
              <a:rPr lang="hr-HR" sz="2800">
                <a:ea typeface="+mn-lt"/>
                <a:cs typeface="+mn-lt"/>
              </a:rPr>
              <a:t>Viša kvaliteta proizvoda</a:t>
            </a:r>
          </a:p>
          <a:p>
            <a:pPr lvl="1"/>
            <a:r>
              <a:rPr lang="hr-HR" sz="2800">
                <a:ea typeface="+mn-lt"/>
                <a:cs typeface="+mn-lt"/>
              </a:rPr>
              <a:t>Zadovoljniji i manje opterećeni timovi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46874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E50425E-A708-5E7C-5F5C-89452A4E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Literatura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2747641-A1CE-833E-B32E-9A1BB1037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b="1" dirty="0">
                <a:ea typeface="+mn-lt"/>
                <a:cs typeface="+mn-lt"/>
              </a:rPr>
              <a:t>David J. Anderson</a:t>
            </a:r>
            <a:br>
              <a:rPr lang="hr-HR" b="1" dirty="0">
                <a:ea typeface="+mn-lt"/>
                <a:cs typeface="+mn-lt"/>
              </a:rPr>
            </a:br>
            <a:r>
              <a:rPr lang="hr-HR" b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Kanban</a:t>
            </a:r>
            <a:r>
              <a:rPr lang="hr-HR" i="1" dirty="0">
                <a:ea typeface="+mn-lt"/>
                <a:cs typeface="+mn-lt"/>
              </a:rPr>
              <a:t>: </a:t>
            </a:r>
            <a:r>
              <a:rPr lang="hr-HR" i="1" dirty="0" err="1">
                <a:ea typeface="+mn-lt"/>
                <a:cs typeface="+mn-lt"/>
              </a:rPr>
              <a:t>Successful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Evolutionary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Change</a:t>
            </a:r>
            <a:r>
              <a:rPr lang="hr-HR" i="1" dirty="0">
                <a:ea typeface="+mn-lt"/>
                <a:cs typeface="+mn-lt"/>
              </a:rPr>
              <a:t> for </a:t>
            </a:r>
            <a:r>
              <a:rPr lang="hr-HR" i="1" dirty="0" err="1">
                <a:ea typeface="+mn-lt"/>
                <a:cs typeface="+mn-lt"/>
              </a:rPr>
              <a:t>Your</a:t>
            </a:r>
            <a:r>
              <a:rPr lang="hr-HR" i="1" dirty="0">
                <a:ea typeface="+mn-lt"/>
                <a:cs typeface="+mn-lt"/>
              </a:rPr>
              <a:t> Technology Business</a:t>
            </a:r>
            <a:r>
              <a:rPr lang="hr-HR" dirty="0">
                <a:ea typeface="+mn-lt"/>
                <a:cs typeface="+mn-lt"/>
              </a:rPr>
              <a:t>, Blue Hole Press, 2010</a:t>
            </a:r>
          </a:p>
          <a:p>
            <a:r>
              <a:rPr lang="hr-HR" b="1" dirty="0" err="1">
                <a:ea typeface="+mn-lt"/>
                <a:cs typeface="+mn-lt"/>
              </a:rPr>
              <a:t>Taiichi</a:t>
            </a:r>
            <a:r>
              <a:rPr lang="hr-HR" b="1" dirty="0">
                <a:ea typeface="+mn-lt"/>
                <a:cs typeface="+mn-lt"/>
              </a:rPr>
              <a:t> </a:t>
            </a:r>
            <a:r>
              <a:rPr lang="hr-HR" b="1" dirty="0" err="1">
                <a:ea typeface="+mn-lt"/>
                <a:cs typeface="+mn-lt"/>
              </a:rPr>
              <a:t>Ohno</a:t>
            </a:r>
            <a:br>
              <a:rPr lang="hr-HR" b="1" dirty="0">
                <a:ea typeface="+mn-lt"/>
                <a:cs typeface="+mn-lt"/>
              </a:rPr>
            </a:br>
            <a:r>
              <a:rPr lang="hr-HR" b="1" dirty="0">
                <a:ea typeface="+mn-lt"/>
                <a:cs typeface="+mn-lt"/>
              </a:rPr>
              <a:t> </a:t>
            </a:r>
            <a:r>
              <a:rPr lang="hr-HR" i="1" dirty="0">
                <a:ea typeface="+mn-lt"/>
                <a:cs typeface="+mn-lt"/>
              </a:rPr>
              <a:t>Toyota </a:t>
            </a:r>
            <a:r>
              <a:rPr lang="hr-HR" i="1" dirty="0" err="1">
                <a:ea typeface="+mn-lt"/>
                <a:cs typeface="+mn-lt"/>
              </a:rPr>
              <a:t>Production</a:t>
            </a:r>
            <a:r>
              <a:rPr lang="hr-HR" i="1" dirty="0">
                <a:ea typeface="+mn-lt"/>
                <a:cs typeface="+mn-lt"/>
              </a:rPr>
              <a:t> System: </a:t>
            </a:r>
            <a:r>
              <a:rPr lang="hr-HR" i="1" dirty="0" err="1">
                <a:ea typeface="+mn-lt"/>
                <a:cs typeface="+mn-lt"/>
              </a:rPr>
              <a:t>Beyond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Large</a:t>
            </a:r>
            <a:r>
              <a:rPr lang="hr-HR" i="1" dirty="0">
                <a:ea typeface="+mn-lt"/>
                <a:cs typeface="+mn-lt"/>
              </a:rPr>
              <a:t>-Scale </a:t>
            </a:r>
            <a:r>
              <a:rPr lang="hr-HR" i="1" dirty="0" err="1">
                <a:ea typeface="+mn-lt"/>
                <a:cs typeface="+mn-lt"/>
              </a:rPr>
              <a:t>Production</a:t>
            </a:r>
            <a:r>
              <a:rPr lang="hr-HR" dirty="0">
                <a:ea typeface="+mn-lt"/>
                <a:cs typeface="+mn-lt"/>
              </a:rPr>
              <a:t>, </a:t>
            </a:r>
            <a:r>
              <a:rPr lang="hr-HR" dirty="0" err="1">
                <a:ea typeface="+mn-lt"/>
                <a:cs typeface="+mn-lt"/>
              </a:rPr>
              <a:t>Productivity</a:t>
            </a:r>
            <a:r>
              <a:rPr lang="hr-HR" dirty="0">
                <a:ea typeface="+mn-lt"/>
                <a:cs typeface="+mn-lt"/>
              </a:rPr>
              <a:t> Press, 1988</a:t>
            </a:r>
          </a:p>
          <a:p>
            <a:r>
              <a:rPr lang="hr-HR" b="1" dirty="0" err="1">
                <a:ea typeface="+mn-lt"/>
                <a:cs typeface="+mn-lt"/>
              </a:rPr>
              <a:t>Atlassian</a:t>
            </a:r>
            <a:br>
              <a:rPr lang="hr-HR" b="1" dirty="0">
                <a:ea typeface="+mn-lt"/>
                <a:cs typeface="+mn-lt"/>
              </a:rPr>
            </a:br>
            <a:r>
              <a:rPr lang="hr-HR" b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The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Kanban</a:t>
            </a:r>
            <a:r>
              <a:rPr lang="hr-HR" i="1" dirty="0">
                <a:ea typeface="+mn-lt"/>
                <a:cs typeface="+mn-lt"/>
              </a:rPr>
              <a:t> </a:t>
            </a:r>
            <a:r>
              <a:rPr lang="hr-HR" i="1" dirty="0" err="1">
                <a:ea typeface="+mn-lt"/>
                <a:cs typeface="+mn-lt"/>
              </a:rPr>
              <a:t>Guide</a:t>
            </a:r>
            <a:r>
              <a:rPr lang="hr-HR" dirty="0">
                <a:ea typeface="+mn-lt"/>
                <a:cs typeface="+mn-lt"/>
              </a:rPr>
              <a:t>, [Online] Dostupno: </a:t>
            </a:r>
            <a:r>
              <a:rPr lang="hr-HR" dirty="0">
                <a:ea typeface="+mn-lt"/>
                <a:cs typeface="+mn-lt"/>
                <a:hlinkClick r:id="rId2"/>
              </a:rPr>
              <a:t>https://www.atlassian.com/agile/kanban</a:t>
            </a:r>
            <a:endParaRPr lang="hr-HR">
              <a:ea typeface="+mn-lt"/>
              <a:cs typeface="+mn-lt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78082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Široki zaslon</PresentationFormat>
  <Paragraphs>0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34</vt:i4>
      </vt:variant>
    </vt:vector>
  </HeadingPairs>
  <TitlesOfParts>
    <vt:vector size="35" baseType="lpstr">
      <vt:lpstr>Tema sustava Office</vt:lpstr>
      <vt:lpstr>Kanban i softverska rješenja za upravljanje projektima </vt:lpstr>
      <vt:lpstr>Uvod</vt:lpstr>
      <vt:lpstr>Definicija Kanbana</vt:lpstr>
      <vt:lpstr>Kanban ploča</vt:lpstr>
      <vt:lpstr>PowerPoint prezentacija</vt:lpstr>
      <vt:lpstr>Povijesni razvoj Kanbana</vt:lpstr>
      <vt:lpstr>Kanban i Toyota Production System</vt:lpstr>
      <vt:lpstr>PowerPoint prezentacija</vt:lpstr>
      <vt:lpstr>Vrste otpada u Kanban sustavu (DOWNTIME)</vt:lpstr>
      <vt:lpstr>Primjena Kanbana u IT industriji</vt:lpstr>
      <vt:lpstr>Digresija: Just in time (JIT) proizvodnja</vt:lpstr>
      <vt:lpstr>Teorijski okvir i principi Kanbana</vt:lpstr>
      <vt:lpstr>Vizualizacija i ograničavanje rada</vt:lpstr>
      <vt:lpstr>Upravljanje protokom i kontinuirano poboljšanje</vt:lpstr>
      <vt:lpstr>Kanban vs Scrum</vt:lpstr>
      <vt:lpstr>Fleksibilnost i organizacija rada</vt:lpstr>
      <vt:lpstr>Mjerenje učinkovitosti u Kanbanu</vt:lpstr>
      <vt:lpstr>Ključne metrike i alati</vt:lpstr>
      <vt:lpstr>PowerPoint prezentacija</vt:lpstr>
      <vt:lpstr>Digitalni alati za Kanban</vt:lpstr>
      <vt:lpstr>Trello: jednostavnost i vizualizacija</vt:lpstr>
      <vt:lpstr>PowerPoint prezentacija</vt:lpstr>
      <vt:lpstr>Jira: napredno upravljanje razvojnim timovima</vt:lpstr>
      <vt:lpstr>PowerPoint prezentacija</vt:lpstr>
      <vt:lpstr>Kanbanize/Businessmap</vt:lpstr>
      <vt:lpstr>PowerPoint prezentacija</vt:lpstr>
      <vt:lpstr>Usporedni prikaz</vt:lpstr>
      <vt:lpstr>Toyota - izvor sustava</vt:lpstr>
      <vt:lpstr>Spotify – autonomija i agilnost</vt:lpstr>
      <vt:lpstr>Kanban u razvoju softverskih rješenja</vt:lpstr>
      <vt:lpstr>Benefiti kanbana u razvoju softvera</vt:lpstr>
      <vt:lpstr>Česte loše primjene Kanbana (anti-patterns)</vt:lpstr>
      <vt:lpstr>Zaključak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234</cp:revision>
  <dcterms:created xsi:type="dcterms:W3CDTF">2012-08-15T22:37:15Z</dcterms:created>
  <dcterms:modified xsi:type="dcterms:W3CDTF">2026-01-01T12:38:35Z</dcterms:modified>
</cp:coreProperties>
</file>